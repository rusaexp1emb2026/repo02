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88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4.jpe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4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536060"/>
            <a:ext cx="8458200" cy="4071351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642938" y="978973"/>
            <a:ext cx="1343025" cy="473273"/>
          </a:xfrm>
          <a:prstGeom prst="round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642938" y="978973"/>
            <a:ext cx="1343025" cy="473273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中間発表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2938" y="2044312"/>
            <a:ext cx="64008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消し忘れ防止＋在宅温度管理＋
電気代節約システム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2938" y="3384435"/>
            <a:ext cx="5481042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スマートフォンのGPS情報とNature Remo 3を活用し、
外出時の安心と在宅時の快適、そして家計への優しさを同時に実現する
統合型IoTソリューション。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0" y="4557713"/>
            <a:ext cx="914400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0" y="4557713"/>
            <a:ext cx="9144000" cy="14288"/>
          </a:xfrm>
          <a:prstGeom prst="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4" y="4772025"/>
            <a:ext cx="171450" cy="17145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22" y="4772025"/>
            <a:ext cx="107156" cy="17145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116" y="4772025"/>
            <a:ext cx="128588" cy="17145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6235" y="4772025"/>
            <a:ext cx="214313" cy="17145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960" y="4772025"/>
            <a:ext cx="192881" cy="17145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3116" y="4772025"/>
            <a:ext cx="128588" cy="17145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2235" y="4772025"/>
            <a:ext cx="214313" cy="17145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5675" y="4772025"/>
            <a:ext cx="171450" cy="17145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7685" y="4772025"/>
            <a:ext cx="171450" cy="17145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9666" y="4772025"/>
            <a:ext cx="171450" cy="171450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1675" y="4772025"/>
            <a:ext cx="171450" cy="171450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5825" y="4772025"/>
            <a:ext cx="214313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8286750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想定する利用者：誰の、どのような課題を解決するのか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706212"/>
            <a:ext cx="4114800" cy="1690055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801760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0119" y="1791937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冷房管理が面倒な人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57213" y="2097332"/>
            <a:ext cx="3857625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在宅中に何度もリモコンを操作する手間を省き、常に最適な環境を維持したい。自動化による「思考の節約」を提供します。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7213" y="2555928"/>
            <a:ext cx="857250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557213" y="2555928"/>
            <a:ext cx="857250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操作の自動化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600575" y="1706212"/>
            <a:ext cx="4114800" cy="1690055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163" y="180176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64919" y="1791937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指標で設定したい人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29163" y="2097332"/>
            <a:ext cx="3857625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「なんとなく」ではなく、不快指数や科学的根拠に基づいた温度設定を行いたい。データに基づく納得感のある管理を実現します。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729163" y="2555928"/>
            <a:ext cx="1085850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4729163" y="2555928"/>
            <a:ext cx="1085850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データ駆動型管理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28625" y="3345926"/>
            <a:ext cx="4114800" cy="1797574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3" y="3441474"/>
            <a:ext cx="20002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4394" y="3431651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子供・高齢者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57213" y="3737046"/>
            <a:ext cx="3857625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複雑なリモコン操作を必要とせず、システムが自動で安全な室温を保つ。熱中症リスクの低減と見守りをサポートします。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57213" y="4195642"/>
            <a:ext cx="1312664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5"/>
          <p:cNvSpPr/>
          <p:nvPr/>
        </p:nvSpPr>
        <p:spPr>
          <a:xfrm>
            <a:off x="557213" y="4195642"/>
            <a:ext cx="1312664" cy="22145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ユニバーサルデザイン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600575" y="3345926"/>
            <a:ext cx="4114800" cy="1797574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9163" y="3548965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64919" y="3539142"/>
            <a:ext cx="13716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外出時の不安解消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729163" y="3844537"/>
            <a:ext cx="3857625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「消し忘れたかも」という不安を、自動検知と通知で確信に変え、即座に対処。心理的な安心感と電気代の無駄をカットします。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729163" y="4303133"/>
            <a:ext cx="742950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0"/>
          <p:cNvSpPr/>
          <p:nvPr/>
        </p:nvSpPr>
        <p:spPr>
          <a:xfrm>
            <a:off x="4729163" y="4303133"/>
            <a:ext cx="742950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安心の提供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8272463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1. システムの概要：スマートな暮らしと省エネの融合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09734"/>
            <a:ext cx="4071938" cy="1845432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554407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524047"/>
            <a:ext cx="12001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自動外出検知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2938" y="2049112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スマートフォンのGPS情報を活用し、自宅からの離脱を自動的に判定。IFTTTやiOSショートカットと連携し、シームレスな検知を実現します。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42938" y="2827781"/>
            <a:ext cx="1084064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642938" y="2827781"/>
            <a:ext cx="1084064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ジオフェンス活用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643438" y="1309734"/>
            <a:ext cx="4071938" cy="1845432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554407"/>
            <a:ext cx="20002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4931" y="1524047"/>
            <a:ext cx="12001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消し忘れ防止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57750" y="2049112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外出時に照明やエアコンの稼働状況をNature Remo API経由で確認。消し忘れがあればDiscordへ即座に通知し、遠隔操作を促します。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57750" y="2827781"/>
            <a:ext cx="1064419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4857750" y="2827781"/>
            <a:ext cx="1064419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Discord通知連携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28625" y="3298041"/>
            <a:ext cx="4071938" cy="184545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542714"/>
            <a:ext cx="14287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2969" y="3512353"/>
            <a:ext cx="12001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最適温度管理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2938" y="4037419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在宅時はセンサ情報を5分ごとに取得。不快指数に基づき、エアコンを自動制御して常に快適な作業環境（22〜23℃）を維持します。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2938" y="4816087"/>
            <a:ext cx="857250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5"/>
          <p:cNvSpPr/>
          <p:nvPr/>
        </p:nvSpPr>
        <p:spPr>
          <a:xfrm>
            <a:off x="642938" y="4816087"/>
            <a:ext cx="857250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不快指数制御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643438" y="3298041"/>
            <a:ext cx="4071938" cy="184545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542714"/>
            <a:ext cx="144661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09567" y="3512353"/>
            <a:ext cx="14001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電気代の可視化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857750" y="4037419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機器ごとの消費電力と時間帯別単価を組み合わせ、リアルタイムで電気代を試算。予算超過前のアラートで節約意識を高めます。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857750" y="4816087"/>
            <a:ext cx="1425178" cy="221456"/>
          </a:xfrm>
          <a:prstGeom prst="round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0"/>
          <p:cNvSpPr/>
          <p:nvPr/>
        </p:nvSpPr>
        <p:spPr>
          <a:xfrm>
            <a:off x="4857750" y="4816087"/>
            <a:ext cx="1425178" cy="22145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コストシミュレーション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691157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2. 要求仕様：利便性と安心を支える機能要件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09734"/>
            <a:ext cx="2666991" cy="310510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562444"/>
            <a:ext cx="107156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524047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外出時機能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92969" y="1900879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ジオフェンスによる2回連続判定での誤検知防止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92969" y="2383752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監視対象機器の稼働状況を自動取得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92969" y="2866625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Discord通知からのリモートオフ操作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92969" y="3349498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操作ログのスプレッドシート自動記録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38491" y="1309734"/>
            <a:ext cx="2666991" cy="310510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/>
          <p:nvPr/>
        </p:nvSpPr>
        <p:spPr>
          <a:xfrm>
            <a:off x="892969" y="1900879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92969" y="2383752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92969" y="2866625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92969" y="3349498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084" y="1562444"/>
            <a:ext cx="192881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81403" y="1524047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在宅時機能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702834" y="1900879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5分ごとの環境ログ（温湿度・不快指数）記録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702834" y="2383752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目標温度帯（22〜23℃）の自動維持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702834" y="2866625"/>
            <a:ext cx="202405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エアコン稼働・停止時のDiscord通知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702834" y="3349498"/>
            <a:ext cx="2024053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毎時0分の定時環境レポート送信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048356" y="1309734"/>
            <a:ext cx="2667019" cy="310510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3702834" y="1900879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702834" y="2383752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702834" y="2866625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702834" y="3349498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950" y="1562444"/>
            <a:ext cx="192881" cy="1714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91269" y="1524047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節約機能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512700" y="1900879"/>
            <a:ext cx="2024081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時間帯別電力単価の設定管理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512700" y="2178034"/>
            <a:ext cx="2024081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ピーク時間帯のしきい値自動シフト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512700" y="2660907"/>
            <a:ext cx="2024081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日次・月次の電気代見積もり自動計算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512700" y="3143780"/>
            <a:ext cx="2024081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予算超過前のアラート通知送信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28625" y="4557713"/>
            <a:ext cx="8286750" cy="585788"/>
          </a:xfrm>
          <a:prstGeom prst="rect">
            <a:avLst/>
          </a:prstGeom>
          <a:solidFill>
            <a:srgbClr val="172B4D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8"/>
          <p:cNvSpPr/>
          <p:nvPr/>
        </p:nvSpPr>
        <p:spPr>
          <a:xfrm>
            <a:off x="6512700" y="1900879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512700" y="2178034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512700" y="2660907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512700" y="3143780"/>
            <a:ext cx="5179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•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42938" y="4729163"/>
            <a:ext cx="69291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非機能要件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1478728" y="4743450"/>
            <a:ext cx="1612255" cy="38576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4"/>
          <p:cNvSpPr/>
          <p:nvPr/>
        </p:nvSpPr>
        <p:spPr>
          <a:xfrm>
            <a:off x="1478728" y="4743450"/>
            <a:ext cx="1612255" cy="385763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外出検知から5分以内の通知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3090983" y="4743450"/>
            <a:ext cx="1728313" cy="38576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6"/>
          <p:cNvSpPr/>
          <p:nvPr/>
        </p:nvSpPr>
        <p:spPr>
          <a:xfrm>
            <a:off x="3090983" y="4743450"/>
            <a:ext cx="1728313" cy="385763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GPS取得間隔：デフォルト2分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4819297" y="4743450"/>
            <a:ext cx="1847831" cy="38576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8"/>
          <p:cNvSpPr/>
          <p:nvPr/>
        </p:nvSpPr>
        <p:spPr>
          <a:xfrm>
            <a:off x="4819297" y="4743450"/>
            <a:ext cx="1847831" cy="385763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Webhookによる容易な設定管理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6667128" y="4743450"/>
            <a:ext cx="1833962" cy="38576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0"/>
          <p:cNvSpPr/>
          <p:nvPr/>
        </p:nvSpPr>
        <p:spPr>
          <a:xfrm>
            <a:off x="6667128" y="4743450"/>
            <a:ext cx="1833962" cy="385763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室温逸脱から3分以内の操作完了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553997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3. 設計：システム構成と処理フロー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85750" y="1309734"/>
            <a:ext cx="2062758" cy="3833766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738485" y="1488328"/>
            <a:ext cx="1157288" cy="258961"/>
          </a:xfrm>
          <a:prstGeom prst="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38485" y="1488328"/>
            <a:ext cx="1157288" cy="258961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入力層 (Input)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404" y="2004464"/>
            <a:ext cx="1714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457" y="2304501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IFTTT / iOS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40457" y="2592037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GPS座標を2分ごとに
Webhook送信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829" y="3200651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0457" y="3500689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Nature Remo 3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40457" y="3788225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室温・湿度・照度
センサ値の取得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2455664" y="1309734"/>
            <a:ext cx="2062758" cy="3833766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9"/>
          <p:cNvSpPr/>
          <p:nvPr/>
        </p:nvSpPr>
        <p:spPr>
          <a:xfrm>
            <a:off x="2784277" y="1488328"/>
            <a:ext cx="1405533" cy="258961"/>
          </a:xfrm>
          <a:prstGeom prst="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2784277" y="1488328"/>
            <a:ext cx="1405533" cy="258961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ロジック層 (Logic)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4168" y="2004464"/>
            <a:ext cx="28575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10371" y="2304501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Google Apps Script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610371" y="2592037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距離計算・不快指数算出
外出/在宅の判定ロジック</a:t>
            </a:r>
            <a:endParaRPr lang="en-US" sz="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4168" y="3200651"/>
            <a:ext cx="28575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610371" y="3500689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制御エンジン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2610371" y="3788225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目標温度との比較
機器操作命令の生成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4625578" y="1309734"/>
            <a:ext cx="2062758" cy="3833766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6"/>
          <p:cNvSpPr/>
          <p:nvPr/>
        </p:nvSpPr>
        <p:spPr>
          <a:xfrm>
            <a:off x="5040809" y="1488328"/>
            <a:ext cx="1232297" cy="258961"/>
          </a:xfrm>
          <a:prstGeom prst="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7"/>
          <p:cNvSpPr/>
          <p:nvPr/>
        </p:nvSpPr>
        <p:spPr>
          <a:xfrm>
            <a:off x="5040809" y="1488328"/>
            <a:ext cx="1232297" cy="258961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データ層 (Data)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2657" y="2004464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80285" y="2304501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Google Sheets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4780285" y="2592037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設定値（目標温度・単価）
稼働ログ・電気代集計</a:t>
            </a:r>
            <a:endParaRPr lang="en-US" sz="7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6945" y="3200651"/>
            <a:ext cx="200025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780285" y="3500689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マスター管理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4780285" y="3788225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デバイスID・Webhook URL
ユーザー設定の永続化</a:t>
            </a:r>
            <a:endParaRPr lang="en-US" sz="750" dirty="0"/>
          </a:p>
        </p:txBody>
      </p:sp>
      <p:sp>
        <p:nvSpPr>
          <p:cNvPr id="31" name="Shape 22"/>
          <p:cNvSpPr/>
          <p:nvPr/>
        </p:nvSpPr>
        <p:spPr>
          <a:xfrm>
            <a:off x="6795492" y="1309734"/>
            <a:ext cx="2062758" cy="3833766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3"/>
          <p:cNvSpPr/>
          <p:nvPr/>
        </p:nvSpPr>
        <p:spPr>
          <a:xfrm>
            <a:off x="7191077" y="1488328"/>
            <a:ext cx="1271588" cy="258961"/>
          </a:xfrm>
          <a:prstGeom prst="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4"/>
          <p:cNvSpPr/>
          <p:nvPr/>
        </p:nvSpPr>
        <p:spPr>
          <a:xfrm>
            <a:off x="7191077" y="1488328"/>
            <a:ext cx="1271588" cy="258961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出力層 (Output)</a:t>
            </a:r>
            <a:endParaRPr lang="en-US" sz="9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3996" y="2004464"/>
            <a:ext cx="28575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50199" y="2304501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Discord Webhook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6950199" y="2592037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消し忘れ通知・定時報告
電気代アラートの送信</a:t>
            </a:r>
            <a:endParaRPr lang="en-US" sz="75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2571" y="3200651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50199" y="3500689"/>
            <a:ext cx="17533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Nature Remo API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6950199" y="3788225"/>
            <a:ext cx="1753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エアコン・照明の操作
赤外線信号の送出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815994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3.5 詳細データフロー図：情報の連鎖と制御の仕組み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85750" y="1689636"/>
            <a:ext cx="1857375" cy="321469"/>
          </a:xfrm>
          <a:prstGeom prst="rect">
            <a:avLst/>
          </a:prstGeom>
          <a:solidFill>
            <a:srgbClr val="E1F5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285750" y="1689636"/>
            <a:ext cx="1857375" cy="32146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579B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入力 (Input)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85750" y="2225418"/>
            <a:ext cx="1857375" cy="119763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" y="2346861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4913" y="2618324"/>
            <a:ext cx="95904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Nature Remo 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87586" y="2941579"/>
            <a:ext cx="10537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5分ごとの温湿度・照度
センサ値を取得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285750" y="3551644"/>
            <a:ext cx="1857375" cy="119763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428" y="3673087"/>
            <a:ext cx="150019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6167" y="3944550"/>
            <a:ext cx="89654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スマートフォン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2950" y="4267805"/>
            <a:ext cx="9429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2分ごとのGPS座標を
IFTTT経由で送信</a:t>
            </a:r>
            <a:endParaRPr lang="en-US" sz="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0028" y="3150701"/>
            <a:ext cx="107156" cy="1714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524088" y="1908581"/>
            <a:ext cx="1857375" cy="321469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0"/>
          <p:cNvSpPr/>
          <p:nvPr/>
        </p:nvSpPr>
        <p:spPr>
          <a:xfrm>
            <a:off x="2524088" y="1908581"/>
            <a:ext cx="1857375" cy="32146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処理 (Process)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524088" y="2444362"/>
            <a:ext cx="1857375" cy="210026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763" y="2887107"/>
            <a:ext cx="200025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42878" y="3158570"/>
            <a:ext cx="121979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Google Apps Script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2952713" y="3481825"/>
            <a:ext cx="1000125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・ジオフェンス判定
・不快指数の算出
・電気代の試算
・制御コマンドの生成</a:t>
            </a:r>
            <a:endParaRPr lang="en-US" sz="7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8366" y="3150701"/>
            <a:ext cx="107156" cy="17145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762426" y="1908581"/>
            <a:ext cx="1857375" cy="32146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5"/>
          <p:cNvSpPr/>
          <p:nvPr/>
        </p:nvSpPr>
        <p:spPr>
          <a:xfrm>
            <a:off x="4762426" y="1908581"/>
            <a:ext cx="1857375" cy="32146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管理 (Data)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762426" y="2444362"/>
            <a:ext cx="1857375" cy="210026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1101" y="2887107"/>
            <a:ext cx="200025" cy="20002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28555" y="3158570"/>
            <a:ext cx="92511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Google Sheets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5241057" y="3481825"/>
            <a:ext cx="9001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・目標温度の設定値
・電力単価マスター
・稼働ログの蓄積
・電気代集計データ</a:t>
            </a:r>
            <a:endParaRPr lang="en-US" sz="7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6704" y="3150701"/>
            <a:ext cx="107156" cy="17145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000763" y="1689636"/>
            <a:ext cx="1857375" cy="321469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0"/>
          <p:cNvSpPr/>
          <p:nvPr/>
        </p:nvSpPr>
        <p:spPr>
          <a:xfrm>
            <a:off x="7000763" y="1689636"/>
            <a:ext cx="1857375" cy="32146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148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出力 (Output)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7000763" y="2225418"/>
            <a:ext cx="1857375" cy="119763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4435" y="2346861"/>
            <a:ext cx="250031" cy="20002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685670" y="2618324"/>
            <a:ext cx="48756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Discord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7379382" y="2941579"/>
            <a:ext cx="110013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消し忘れ通知・定時報告
電気代アラートの送信</a:t>
            </a:r>
            <a:endParaRPr lang="en-US" sz="750" dirty="0"/>
          </a:p>
        </p:txBody>
      </p:sp>
      <p:sp>
        <p:nvSpPr>
          <p:cNvPr id="35" name="Shape 24"/>
          <p:cNvSpPr/>
          <p:nvPr/>
        </p:nvSpPr>
        <p:spPr>
          <a:xfrm>
            <a:off x="7000763" y="3551644"/>
            <a:ext cx="1857375" cy="119763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9438" y="3673087"/>
            <a:ext cx="200025" cy="20002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380275" y="3944550"/>
            <a:ext cx="1098352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Nature Remo API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7479395" y="4267805"/>
            <a:ext cx="90011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エアコン・照明への
赤外線信号送出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759737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4. 設計：主要な計算ロジックと制御アルゴリズム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09734"/>
            <a:ext cx="4071938" cy="1845432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642938" y="1488328"/>
            <a:ext cx="1285875" cy="278606"/>
          </a:xfrm>
          <a:prstGeom prst="round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642938" y="1488328"/>
            <a:ext cx="1285875" cy="278606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不快指数の算出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2938" y="1874090"/>
            <a:ext cx="3643313" cy="253603"/>
          </a:xfrm>
          <a:prstGeom prst="rect">
            <a:avLst/>
          </a:prstGeom>
          <a:solidFill>
            <a:srgbClr val="EBEC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642938" y="1874090"/>
            <a:ext cx="28575" cy="25360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642938" y="1874090"/>
            <a:ext cx="3643313" cy="253603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= 0.81T + 0.01H(0.99T - 14.3) + 46.3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2938" y="2349150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温度(T)と湿度(H)から算出。</a:t>
            </a: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75以上で「やや暑い」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80以上で「暑くてたまらない」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と判定し、エアコンの稼働強度を自動調整します。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43438" y="1309734"/>
            <a:ext cx="4071938" cy="1845432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857750" y="1488328"/>
            <a:ext cx="1425178" cy="278606"/>
          </a:xfrm>
          <a:prstGeom prst="round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857750" y="1488328"/>
            <a:ext cx="1425178" cy="278606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ジオフェンス判定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57750" y="1874090"/>
            <a:ext cx="3643313" cy="253603"/>
          </a:xfrm>
          <a:prstGeom prst="rect">
            <a:avLst/>
          </a:prstGeom>
          <a:solidFill>
            <a:srgbClr val="EBEC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4857750" y="1874090"/>
            <a:ext cx="28575" cy="25360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4857750" y="1874090"/>
            <a:ext cx="3643313" cy="253603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Haversine Formula (d = 2r × arcsin(√...))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57750" y="2349150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ハーバーサイン式を用いて、スマホのGPS座標と自宅の距離を算出。</a:t>
            </a: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設定半径を2回連続で逸脱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した場合にのみ「外出」と判定し、誤検知を防ぎます。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8625" y="3298041"/>
            <a:ext cx="4071938" cy="184545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642938" y="3476634"/>
            <a:ext cx="1994892" cy="278606"/>
          </a:xfrm>
          <a:prstGeom prst="round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642938" y="3476634"/>
            <a:ext cx="1994892" cy="278606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電気代のリアルタイム試算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2938" y="3862397"/>
            <a:ext cx="3643313" cy="253603"/>
          </a:xfrm>
          <a:prstGeom prst="rect">
            <a:avLst/>
          </a:prstGeom>
          <a:solidFill>
            <a:srgbClr val="EBEC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642938" y="3862397"/>
            <a:ext cx="28575" cy="25360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642938" y="3862397"/>
            <a:ext cx="3643313" cy="253603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Σ (Power[W] × Time[h] × UnitPrice)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2938" y="4337456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機器ごとの定格消費電力と稼働時間、さらに</a:t>
            </a: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電力会社の時間帯別単価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を掛け合わせ、日次・月次の推定電気代をスプレッドシート上で自動集計します。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43438" y="3298041"/>
            <a:ext cx="4071938" cy="1845459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4857750" y="3476634"/>
            <a:ext cx="1852017" cy="278606"/>
          </a:xfrm>
          <a:prstGeom prst="round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4857750" y="3476634"/>
            <a:ext cx="1852017" cy="278606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ピーク抑制アルゴリズム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57750" y="3862397"/>
            <a:ext cx="3643313" cy="253603"/>
          </a:xfrm>
          <a:prstGeom prst="rect">
            <a:avLst/>
          </a:prstGeom>
          <a:solidFill>
            <a:srgbClr val="EBEC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6"/>
          <p:cNvSpPr/>
          <p:nvPr/>
        </p:nvSpPr>
        <p:spPr>
          <a:xfrm>
            <a:off x="4857750" y="3862397"/>
            <a:ext cx="28575" cy="25360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4857750" y="3862397"/>
            <a:ext cx="3643313" cy="253603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Threshold_Shift = Normal_Temp + 1.5°C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57750" y="4337456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電力単価が高い</a:t>
            </a:r>
            <a:r>
              <a:rPr lang="en-US" sz="8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ピーク時間帯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は、冷房の稼働しきい値を自動的に上方シフト。快適性を損なわない範囲で過剰な稼働を抑制し、節電を最大化します。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725805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5. 論文エビデンス：目標温度設定の科学的根拠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09734"/>
            <a:ext cx="4036219" cy="3833766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802" y="1556193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4114" y="1524047"/>
            <a:ext cx="213955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室温と作業パフォーマンスの相関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31240"/>
            <a:ext cx="3721894" cy="2500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39453" y="4502990"/>
            <a:ext cx="221456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※ScienceDirectメタ分析(35研究)に基づく概念図</a:t>
            </a:r>
            <a:endParaRPr lang="en-US" sz="750" dirty="0"/>
          </a:p>
        </p:txBody>
      </p:sp>
      <p:sp>
        <p:nvSpPr>
          <p:cNvPr id="9" name="Shape 4"/>
          <p:cNvSpPr/>
          <p:nvPr/>
        </p:nvSpPr>
        <p:spPr>
          <a:xfrm>
            <a:off x="4679156" y="1309734"/>
            <a:ext cx="4036219" cy="115907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484756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72063" y="1452609"/>
            <a:ext cx="1143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ピーク性能の特定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4857750" y="1774078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35の研究を対象としたメタ分析により、知的作業の効率は</a:t>
            </a: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21.8℃付近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で最大化されることが証明されています。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857750" y="2266997"/>
            <a:ext cx="1585913" cy="173236"/>
          </a:xfrm>
          <a:prstGeom prst="round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8"/>
          <p:cNvSpPr/>
          <p:nvPr/>
        </p:nvSpPr>
        <p:spPr>
          <a:xfrm>
            <a:off x="4857750" y="2266997"/>
            <a:ext cx="1585913" cy="173236"/>
          </a:xfrm>
          <a:prstGeom prst="rect">
            <a:avLst/>
          </a:prstGeom>
          <a:noFill/>
          <a:ln/>
        </p:spPr>
        <p:txBody>
          <a:bodyPr wrap="square" lIns="102108" tIns="17018" rIns="102108" bIns="17018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ScienceDirect Meta-analysis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4679156" y="2547389"/>
            <a:ext cx="4036219" cy="115907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2722411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2063" y="2690264"/>
            <a:ext cx="1143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反応速度への影響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857750" y="3011732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22℃から1℃逸脱するごとに、反応時間が</a:t>
            </a: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16〜24ms悪化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。集中力の維持には厳密な管理が不可欠です。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4857750" y="3504651"/>
            <a:ext cx="1180505" cy="173236"/>
          </a:xfrm>
          <a:prstGeom prst="round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3"/>
          <p:cNvSpPr/>
          <p:nvPr/>
        </p:nvSpPr>
        <p:spPr>
          <a:xfrm>
            <a:off x="4857750" y="3504651"/>
            <a:ext cx="1180505" cy="173236"/>
          </a:xfrm>
          <a:prstGeom prst="rect">
            <a:avLst/>
          </a:prstGeom>
          <a:noFill/>
          <a:ln/>
        </p:spPr>
        <p:txBody>
          <a:bodyPr wrap="none" lIns="102108" tIns="17018" rIns="102108" bIns="17018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PLOS Medicine 2018</a:t>
            </a:r>
            <a:endParaRPr lang="en-US" sz="700" dirty="0"/>
          </a:p>
        </p:txBody>
      </p:sp>
      <p:sp>
        <p:nvSpPr>
          <p:cNvPr id="21" name="Shape 14"/>
          <p:cNvSpPr/>
          <p:nvPr/>
        </p:nvSpPr>
        <p:spPr>
          <a:xfrm>
            <a:off x="4679156" y="3785043"/>
            <a:ext cx="4036219" cy="1159073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3960065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72063" y="3927918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認知機能の低下境界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857750" y="4249387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室温が</a:t>
            </a: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24℃を超えると</a:t>
            </a: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、処理速度や正確性が顕著に低下。本システムでは上限を23℃に設定し、リスクを回避します。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4857750" y="4742306"/>
            <a:ext cx="850106" cy="173236"/>
          </a:xfrm>
          <a:prstGeom prst="round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8"/>
          <p:cNvSpPr/>
          <p:nvPr/>
        </p:nvSpPr>
        <p:spPr>
          <a:xfrm>
            <a:off x="4857750" y="4742306"/>
            <a:ext cx="850106" cy="173236"/>
          </a:xfrm>
          <a:prstGeom prst="rect">
            <a:avLst/>
          </a:prstGeom>
          <a:noFill/>
          <a:ln/>
        </p:spPr>
        <p:txBody>
          <a:bodyPr wrap="none" lIns="102108" tIns="17018" rIns="102108" bIns="17018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PubMed 2023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352" y="83314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759737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7. 開発体制：役割分担によるプロジェクトの遂行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963027" y="2337339"/>
            <a:ext cx="2085975" cy="1349778"/>
          </a:xfrm>
          <a:prstGeom prst="rect">
            <a:avLst/>
          </a:prstGeom>
          <a:solidFill>
            <a:srgbClr val="FFFFFF"/>
          </a:solidFill>
          <a:ln w="27432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1077326" y="2415127"/>
            <a:ext cx="1857375" cy="27860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リーダー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092994" y="1395459"/>
            <a:ext cx="1857375" cy="2786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リーダー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7327" y="2758820"/>
            <a:ext cx="18573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</a:rPr>
              <a:t>鮫島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7327" y="3064216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・プロジェクト全体の進捗管理
・各モジュールの統合・最終調整
・技術的な意思決定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116840" y="2279432"/>
            <a:ext cx="14288" cy="1428750"/>
          </a:xfrm>
          <a:prstGeom prst="rect">
            <a:avLst/>
          </a:prstGeom>
          <a:solidFill>
            <a:srgbClr val="172B4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409429" y="1150618"/>
            <a:ext cx="2057400" cy="1161194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495154" y="1236087"/>
            <a:ext cx="1857375" cy="278606"/>
          </a:xfrm>
          <a:prstGeom prst="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495154" y="1236343"/>
            <a:ext cx="1857375" cy="2786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プログラム責任者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95154" y="1572099"/>
            <a:ext cx="18573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</a:rPr>
              <a:t>朝倉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95154" y="1877495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・GASによるロジック実装
・API連携・計算エンジンの開発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409429" y="2424522"/>
            <a:ext cx="2057400" cy="1161194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4438004" y="2510247"/>
            <a:ext cx="1857375" cy="278606"/>
          </a:xfrm>
          <a:prstGeom prst="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17" name="Text 14"/>
          <p:cNvSpPr/>
          <p:nvPr/>
        </p:nvSpPr>
        <p:spPr>
          <a:xfrm>
            <a:off x="4438004" y="2533741"/>
            <a:ext cx="1857375" cy="2786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開発文書責任者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38004" y="2846003"/>
            <a:ext cx="18573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</a:rPr>
              <a:t>島崎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438004" y="3151399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・要求仕様書・設計書の作成
・プロジェクト計画書の管理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409429" y="3698426"/>
            <a:ext cx="2057400" cy="1161194"/>
          </a:xfrm>
          <a:prstGeom prst="rect">
            <a:avLst/>
          </a:prstGeom>
          <a:solidFill>
            <a:srgbClr val="FFFFFF"/>
          </a:solidFill>
          <a:ln w="18288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4495154" y="3776003"/>
            <a:ext cx="1857375" cy="278606"/>
          </a:xfrm>
          <a:prstGeom prst="rect">
            <a:avLst/>
          </a:prstGeom>
          <a:solidFill>
            <a:srgbClr val="E6EF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4495154" y="3784151"/>
            <a:ext cx="1857375" cy="2786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資料責任者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95154" y="4119907"/>
            <a:ext cx="18573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052CC"/>
                </a:solidFill>
                <a:latin typeface="Noto Sans JP Black" pitchFamily="34" charset="0"/>
                <a:ea typeface="Noto Sans JP Black" pitchFamily="34" charset="-122"/>
              </a:rPr>
              <a:t>江川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95154" y="4425303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・中間・成果発表資料の作成
・プレゼン構成の最適化</a:t>
            </a:r>
            <a:endParaRPr lang="en-US" sz="850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67A1ED03-E0E6-EB74-FB7E-4A67FC1A7B7A}"/>
              </a:ext>
            </a:extLst>
          </p:cNvPr>
          <p:cNvSpPr/>
          <p:nvPr/>
        </p:nvSpPr>
        <p:spPr>
          <a:xfrm>
            <a:off x="3167743" y="2197513"/>
            <a:ext cx="834797" cy="22555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chemeClr val="bg1"/>
                </a:solidFill>
              </a:ln>
            </a:endParaRP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58409D03-D481-74A5-F3F9-DECD0186B0FD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049002" y="3007065"/>
            <a:ext cx="1082126" cy="5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0070C0"/>
          </a:solidFill>
        </p:spPr>
      </p:pic>
      <p:sp>
        <p:nvSpPr>
          <p:cNvPr id="3" name="Text 0"/>
          <p:cNvSpPr/>
          <p:nvPr/>
        </p:nvSpPr>
        <p:spPr>
          <a:xfrm>
            <a:off x="428625" y="570356"/>
            <a:ext cx="7909917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8. </a:t>
            </a:r>
            <a:r>
              <a:rPr lang="en-US" sz="2450" b="1" dirty="0" err="1">
                <a:solidFill>
                  <a:srgbClr val="172B4D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開発スケジュール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32197" y="1313306"/>
            <a:ext cx="2321719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432197" y="1313306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タスク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753916" y="1313306"/>
            <a:ext cx="682954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2753916" y="1313306"/>
            <a:ext cx="682954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担当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436869" y="1313306"/>
            <a:ext cx="961504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0" name="Text 7"/>
          <p:cNvSpPr/>
          <p:nvPr/>
        </p:nvSpPr>
        <p:spPr>
          <a:xfrm>
            <a:off x="3700698" y="1320095"/>
            <a:ext cx="433837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/>
            <a:r>
              <a:rPr lang="en-US" altLang="ja-JP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</a:rPr>
              <a:t>4/22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94020" y="1313306"/>
            <a:ext cx="1079432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716817" y="1320095"/>
            <a:ext cx="433837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</a:rPr>
              <a:t>4/29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66922" y="1313306"/>
            <a:ext cx="1081608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4" name="Text 11"/>
          <p:cNvSpPr/>
          <p:nvPr/>
        </p:nvSpPr>
        <p:spPr>
          <a:xfrm>
            <a:off x="5822065" y="1320095"/>
            <a:ext cx="371320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</a:rPr>
              <a:t>5/6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544121" y="1313306"/>
            <a:ext cx="1083785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6" name="Text 13"/>
          <p:cNvSpPr/>
          <p:nvPr/>
        </p:nvSpPr>
        <p:spPr>
          <a:xfrm>
            <a:off x="6869095" y="1320095"/>
            <a:ext cx="433837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</a:rPr>
              <a:t>5/13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625702" y="1313306"/>
            <a:ext cx="1086101" cy="342900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7951834" y="1320095"/>
            <a:ext cx="433837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</a:rPr>
              <a:t>5/20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32197" y="1649062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要求仕様・設計の見直し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53916" y="1649062"/>
            <a:ext cx="689874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443790" y="1649062"/>
            <a:ext cx="959188" cy="342900"/>
          </a:xfrm>
          <a:prstGeom prst="rect">
            <a:avLst/>
          </a:prstGeom>
          <a:solidFill>
            <a:srgbClr val="36B37E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3443790" y="1649062"/>
            <a:ext cx="959188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完了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32197" y="1991962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スプレッドシート管理プログラム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886744" y="1994904"/>
            <a:ext cx="424219" cy="33701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</a:rPr>
              <a:t>朝倉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409898" y="1984818"/>
            <a:ext cx="1077199" cy="342900"/>
          </a:xfrm>
          <a:prstGeom prst="rect">
            <a:avLst/>
          </a:prstGeom>
          <a:solidFill>
            <a:schemeClr val="bg1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26" name="Text 23"/>
          <p:cNvSpPr/>
          <p:nvPr/>
        </p:nvSpPr>
        <p:spPr>
          <a:xfrm>
            <a:off x="4735880" y="1998751"/>
            <a:ext cx="411395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00" dirty="0"/>
              <a:t>予定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32197" y="2334862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データ取得・センサ管理プログラム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886743" y="2337804"/>
            <a:ext cx="424219" cy="33701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</a:rPr>
              <a:t>江川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402978" y="2334862"/>
            <a:ext cx="1077199" cy="342900"/>
          </a:xfrm>
          <a:prstGeom prst="rect">
            <a:avLst/>
          </a:prstGeom>
          <a:solidFill>
            <a:schemeClr val="bg1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4735880" y="2341651"/>
            <a:ext cx="411395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00" dirty="0"/>
              <a:t>予定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32197" y="2677762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エアコン操作用プログラム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886744" y="2680704"/>
            <a:ext cx="424219" cy="33701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</a:rPr>
              <a:t>島崎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0177" y="2677762"/>
            <a:ext cx="1077199" cy="342900"/>
          </a:xfrm>
          <a:prstGeom prst="rect">
            <a:avLst/>
          </a:prstGeom>
          <a:solidFill>
            <a:schemeClr val="bg1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34" name="Text 31"/>
          <p:cNvSpPr/>
          <p:nvPr/>
        </p:nvSpPr>
        <p:spPr>
          <a:xfrm>
            <a:off x="5813078" y="2684551"/>
            <a:ext cx="411395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00" dirty="0"/>
              <a:t>予定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32197" y="3027451"/>
            <a:ext cx="2321719" cy="32932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 err="1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Discord連携プログラム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886744" y="3023604"/>
            <a:ext cx="424219" cy="33701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ja-JP" alt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</a:rPr>
              <a:t>鮫島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80177" y="3020662"/>
            <a:ext cx="1077199" cy="342900"/>
          </a:xfrm>
          <a:prstGeom prst="rect">
            <a:avLst/>
          </a:prstGeom>
          <a:solidFill>
            <a:schemeClr val="bg1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38" name="Text 35"/>
          <p:cNvSpPr/>
          <p:nvPr/>
        </p:nvSpPr>
        <p:spPr>
          <a:xfrm>
            <a:off x="5813075" y="3027451"/>
            <a:ext cx="411396" cy="32932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/>
            <a:r>
              <a:rPr lang="ja-JP" altLang="en-US" sz="800" dirty="0"/>
              <a:t>予定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32197" y="3363562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システム統合テスト・バグ修正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753916" y="3363562"/>
            <a:ext cx="689874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557376" y="3363562"/>
            <a:ext cx="1077199" cy="342900"/>
          </a:xfrm>
          <a:prstGeom prst="rect">
            <a:avLst/>
          </a:prstGeom>
          <a:solidFill>
            <a:srgbClr val="EBECF0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9"/>
          <p:cNvSpPr/>
          <p:nvPr/>
        </p:nvSpPr>
        <p:spPr>
          <a:xfrm>
            <a:off x="6557376" y="3363562"/>
            <a:ext cx="1077199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32197" y="3706462"/>
            <a:ext cx="232171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成果発表資料作成・最終調整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753916" y="3706462"/>
            <a:ext cx="689874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480177" y="3706462"/>
            <a:ext cx="1077199" cy="342900"/>
          </a:xfrm>
          <a:prstGeom prst="rect">
            <a:avLst/>
          </a:prstGeom>
          <a:solidFill>
            <a:srgbClr val="EBECF0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3"/>
          <p:cNvSpPr/>
          <p:nvPr/>
        </p:nvSpPr>
        <p:spPr>
          <a:xfrm>
            <a:off x="5480177" y="3706462"/>
            <a:ext cx="1077199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557376" y="3706462"/>
            <a:ext cx="1077199" cy="342900"/>
          </a:xfrm>
          <a:prstGeom prst="rect">
            <a:avLst/>
          </a:prstGeom>
          <a:solidFill>
            <a:srgbClr val="EBECF0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5"/>
          <p:cNvSpPr/>
          <p:nvPr/>
        </p:nvSpPr>
        <p:spPr>
          <a:xfrm>
            <a:off x="6557376" y="3706462"/>
            <a:ext cx="1077199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34576" y="3706462"/>
            <a:ext cx="1077227" cy="342900"/>
          </a:xfrm>
          <a:prstGeom prst="rect">
            <a:avLst/>
          </a:prstGeom>
          <a:solidFill>
            <a:srgbClr val="EBECF0"/>
          </a:solidFill>
          <a:ln w="9144">
            <a:solidFill>
              <a:srgbClr val="172B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7"/>
          <p:cNvSpPr/>
          <p:nvPr/>
        </p:nvSpPr>
        <p:spPr>
          <a:xfrm>
            <a:off x="7634576" y="3706462"/>
            <a:ext cx="1077227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252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300913" y="4202060"/>
            <a:ext cx="2000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完了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7858125" y="4202060"/>
            <a:ext cx="3000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進行中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8515350" y="4202060"/>
            <a:ext cx="2000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2526E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予定</a:t>
            </a:r>
            <a:endParaRPr lang="en-US" sz="700" dirty="0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0C102A4B-0304-2571-0BFA-D391CCAD0073}"/>
              </a:ext>
            </a:extLst>
          </p:cNvPr>
          <p:cNvSpPr/>
          <p:nvPr/>
        </p:nvSpPr>
        <p:spPr>
          <a:xfrm>
            <a:off x="4134535" y="3042932"/>
            <a:ext cx="1077199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進行中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648</Words>
  <Application>Microsoft Office PowerPoint</Application>
  <PresentationFormat>画面に合わせる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Noto Sans JP</vt:lpstr>
      <vt:lpstr>Noto Sans JP Black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蓮 鮫島</cp:lastModifiedBy>
  <cp:revision>2</cp:revision>
  <dcterms:created xsi:type="dcterms:W3CDTF">2026-04-22T00:47:47Z</dcterms:created>
  <dcterms:modified xsi:type="dcterms:W3CDTF">2026-04-22T02:28:07Z</dcterms:modified>
</cp:coreProperties>
</file>